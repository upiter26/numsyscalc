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96" r:id="rId2"/>
    <p:sldId id="286" r:id="rId3"/>
    <p:sldId id="309" r:id="rId4"/>
    <p:sldId id="303" r:id="rId5"/>
    <p:sldId id="305" r:id="rId6"/>
    <p:sldId id="307" r:id="rId7"/>
    <p:sldId id="285" r:id="rId8"/>
    <p:sldId id="311" r:id="rId9"/>
    <p:sldId id="312" r:id="rId10"/>
    <p:sldId id="313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</a:tblStyle>
  <a:tblStyle styleId="{C083E6E3-FA7D-4D7B-A595-EF9225AFEA82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A5A5A5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A5A5A5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69012ECD-51FC-41F1-AA8D-1B2483CD663E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band1H>
    <a:band1V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1V>
    <a:band2V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2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Row>
  </a:tblStyle>
  <a:tblStyle styleId="{073A0DAA-6AF3-43AB-8588-CEC1D06C72B9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7E7"/>
          </a:solidFill>
        </a:fill>
      </a:tcStyle>
    </a:wholeTbl>
    <a:band1H>
      <a:tcStyle>
        <a:tcBdr/>
        <a:fill>
          <a:solidFill>
            <a:srgbClr val="CBCBCB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BCBCB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000000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000000"/>
          </a:solidFill>
        </a:fill>
      </a:tcStyle>
    </a:firstRow>
  </a:tblStyle>
  <a:tblStyle styleId="{9D7B26C5-4107-4FEC-AEDC-1716B250A1EF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000000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000000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0505E3EF-67EA-436B-97B2-0124C06EBD24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0F0F0"/>
          </a:solidFill>
        </a:fill>
      </a:tcStyle>
    </a:wholeTbl>
    <a:band1H>
      <a:tcStyle>
        <a:tcBdr/>
        <a:fill>
          <a:solidFill>
            <a:srgbClr val="E1E1E1"/>
          </a:solidFill>
        </a:fill>
      </a:tcStyle>
    </a:band1H>
    <a:band1V>
      <a:tcStyle>
        <a:tcBdr/>
        <a:fill>
          <a:solidFill>
            <a:srgbClr val="E1E1E1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2540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0F0F0"/>
          </a:solidFill>
        </a:fill>
      </a:tcStyle>
    </a:lastRow>
    <a:firstRow>
      <a:tcTxStyle b="on">
        <a:font>
          <a:latin typeface=""/>
          <a:ea typeface=""/>
          <a:cs typeface=""/>
        </a:font>
      </a:tcTxStyle>
      <a:tcStyle>
        <a:tcBdr/>
        <a:fill>
          <a:solidFill>
            <a:srgbClr val="F0F0F0"/>
          </a:solidFill>
        </a:fill>
      </a:tcStyle>
    </a:firstRow>
  </a:tblStyle>
  <a:tblStyle styleId="{3B4B98B0-60AC-42C2-AFA5-B58CD77FA1E5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4472C4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4472C4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0E3FDE45-AF77-4B5C-9715-49D594BDF05E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ED7D31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D7D31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306799F8-075E-4A3A-A7F6-7FBC6576F1A4}" styleName="">
    <a:wholeTbl>
      <a:tcTxStyle>
        <a:font>
          <a:latin typeface="+mn-lt"/>
          <a:ea typeface="+mn-ea"/>
          <a:cs typeface="+mn-cs"/>
        </a:font>
        <a:srgbClr val="FFFFFF"/>
      </a:tcTxStyle>
      <a:tcStyle>
        <a:tcBdr>
          <a:left>
            <a:ln w="3172" cap="flat" cmpd="sng" algn="ctr">
              <a:solidFill>
                <a:srgbClr val="D8D8D8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D8D8D8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D8D8D8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D8D8D8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A5A5A5"/>
          </a:solidFill>
        </a:fill>
      </a:tcStyle>
    </a:wholeTbl>
    <a:band1H>
      <a:tcStyle>
        <a:tcBdr/>
        <a:fill>
          <a:solidFill>
            <a:srgbClr val="FFFFFF"/>
          </a:solidFill>
        </a:fill>
      </a:tcStyle>
    </a:band1H>
    <a:band1V>
      <a:tcStyle>
        <a:tcBdr/>
        <a:fill>
          <a:solidFill>
            <a:srgbClr val="FFFFFF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</a:tcBdr>
        <a:fill>
          <a:solidFill>
            <a:srgbClr val="A5A5A5"/>
          </a:solidFill>
        </a:fill>
      </a:tcStyle>
    </a:lastCol>
    <a:firstCol>
      <a:tcTxStyle b="on">
        <a:font>
          <a:latin typeface=""/>
          <a:ea typeface=""/>
          <a:cs typeface=""/>
        </a:font>
      </a:tcTxStyle>
      <a:tcStyle>
        <a:tcBdr>
          <a:right>
            <a:ln w="3172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</a:tcBdr>
        <a:fill>
          <a:solidFill>
            <a:srgbClr val="A5A5A5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3172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A5A5A5"/>
          </a:solidFill>
        </a:fill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3172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A5A5A5"/>
          </a:solidFill>
        </a:fill>
      </a:tcStyle>
    </a:firstRow>
  </a:tblStyle>
  <a:tblStyle styleId="{69C7853C-536D-4A76-A0AE-DD22124D55A5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A5A5A5"/>
          </a:solidFill>
        </a:fill>
      </a:tcStyle>
    </a:wholeTbl>
    <a:band1H>
      <a:tcStyle>
        <a:tcBdr/>
        <a:fill>
          <a:solidFill>
            <a:srgbClr val="A5A5A5"/>
          </a:solidFill>
        </a:fill>
      </a:tcStyle>
    </a:band1H>
    <a:band2H>
      <a:tcStyle>
        <a:tcBdr/>
        <a:fill>
          <a:solidFill>
            <a:srgbClr val="A5A5A5"/>
          </a:solidFill>
        </a:fill>
      </a:tcStyle>
    </a:band2H>
    <a:band1V>
      <a:tcStyle>
        <a:tcBdr>
          <a:top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A5A5A5"/>
          </a:solidFill>
        </a:fill>
      </a:tcStyle>
    </a:band1V>
    <a:band2V>
      <a:tcStyle>
        <a:tcBdr/>
        <a:fill>
          <a:solidFill>
            <a:srgbClr val="A5A5A5"/>
          </a:solidFill>
        </a:fill>
      </a:tcStyle>
    </a:band2V>
    <a:lastCol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A5A5A5"/>
          </a:solidFill>
        </a:fill>
      </a:tcStyle>
    </a:lastCol>
    <a:firstCol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A5A5A5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A5A5A5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lef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A5A5A5"/>
          </a:solidFill>
        </a:fill>
      </a:tcStyle>
    </a:firstRow>
  </a:tblStyle>
  <a:tblStyle styleId="{8799B23B-EC83-4686-B30A-512413B5E67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A5A5A5"/>
          </a:solidFill>
        </a:fill>
      </a:tcStyle>
    </a:band1H>
    <a:band1V>
      <a:tcStyle>
        <a:tcBdr/>
        <a:fill>
          <a:solidFill>
            <a:srgbClr val="A5A5A5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F7D75FE-CC2E-4650-B1FA-85062AF9A4A3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Заполнитель даты 2">
            <a:extLst>
              <a:ext uri="{FF2B5EF4-FFF2-40B4-BE49-F238E27FC236}">
                <a16:creationId xmlns:a16="http://schemas.microsoft.com/office/drawing/2014/main" id="{78550858-1EEE-4984-9830-223E26ECF0EA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7EC2235-BB1E-4516-B668-91B3488E95F9}" type="datetime1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12/23/2025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Заполнитель нижнего колонтитула 3">
            <a:extLst>
              <a:ext uri="{FF2B5EF4-FFF2-40B4-BE49-F238E27FC236}">
                <a16:creationId xmlns:a16="http://schemas.microsoft.com/office/drawing/2014/main" id="{7EC73640-769B-494A-86AD-51ED9BBEA88B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3D2CD45-6A4C-4005-823C-4251FAFA4A27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FB1C3D8-7006-4289-881F-17C3A2CE0878}" type="slidenum">
              <a:t>‹#›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27037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0913B52E-385D-40CA-89B7-84063C96F9A2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Заполнитель даты 2">
            <a:extLst>
              <a:ext uri="{FF2B5EF4-FFF2-40B4-BE49-F238E27FC236}">
                <a16:creationId xmlns:a16="http://schemas.microsoft.com/office/drawing/2014/main" id="{55218C2E-C287-4B1B-9478-C3FC41C99986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7F8B5CEC-2B3F-4CA2-A725-AB857740D0FC}" type="datetime1">
              <a:rPr lang="en-US"/>
              <a:pPr lvl="0"/>
              <a:t>12/23/2025</a:t>
            </a:fld>
            <a:endParaRPr lang="en-US"/>
          </a:p>
        </p:txBody>
      </p:sp>
      <p:sp>
        <p:nvSpPr>
          <p:cNvPr id="4" name="Заполнитель образа слайда 3">
            <a:extLst>
              <a:ext uri="{FF2B5EF4-FFF2-40B4-BE49-F238E27FC236}">
                <a16:creationId xmlns:a16="http://schemas.microsoft.com/office/drawing/2014/main" id="{6D84179F-613E-497F-9069-15B4102632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02A92908-4676-4A09-9268-9C83EC6BCBA1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9A5D6A-D390-4662-95C3-0161CD152462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666863E-8609-436A-9803-0FED82D469B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F9BE1AEA-F16C-461C-B695-6D5F9B5F90B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53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образа слайда 1">
            <a:extLst>
              <a:ext uri="{FF2B5EF4-FFF2-40B4-BE49-F238E27FC236}">
                <a16:creationId xmlns:a16="http://schemas.microsoft.com/office/drawing/2014/main" id="{8A1BD228-D430-46D5-9380-ED2CB6FD6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436F4E8-5991-4082-9F67-5D24F006704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28C82A-E651-43F1-9F91-4BC0A31B0130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7C0114B-04BD-409A-A6F1-72726852F976}" type="slidenum">
              <a:t>1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B5967-6661-4309-8564-C6ED2B3A772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D3B747-8BF4-428B-8EA0-BA0A8140F01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AD14C-1E12-44B6-BB16-61AE3CFB3CA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06.08.20ГГ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6A76C-1AC6-4D89-9F6F-FEC0B4C99C8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37DF6-1D1B-4244-943F-6504EABD8BB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26BCF5E-C2DA-449A-98CC-C0699E6169B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77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3615A-0E9A-4F3C-9802-566EB04B348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92527-9446-4D8B-9028-5EDB70E8CFE4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F884F-DB97-4F55-BEC5-E5F0EF9FB97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06.08.20ГГ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C9831-E7A9-4A3F-8D5B-326C82BA9A0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088CF-489C-42E6-A2F5-2F6CC490628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3FBB2FB-2501-4A81-A127-C9EF807D3EA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1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6B798-33D5-4C20-9C0B-F93EA3B8EC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49B19-7601-400E-B0DE-7FD29F9113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E3E3E3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EDBF5-984B-43C4-B0DF-030BFCD0FB3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06.08.20ГГ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8B33A-45BB-4E45-A087-43D7114933C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D81F6-34C4-4DB1-A80F-320A6DF1944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733E126-FB5D-463A-85C9-4D661B0D07B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68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FE26A-7250-4924-9B89-4C0ABDCCB18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2F39F-16BA-4390-BE52-991783F93D9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E2917-F00A-46B7-A5B2-6A4F237F2FBB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BBEFC0-D52B-4349-B07C-87AEC664125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06.08.20ГГ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A5FA2-6714-4648-AF71-27C3964C2D9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C1BA5-FB5B-44A2-85F6-C0CCD2B5506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117408F-1532-47B7-8C30-ED1B6EAE199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99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45F15-27AC-49F5-BD08-CA65358501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E4CFF-1B1F-42EF-B88D-C02727D16F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39535-699C-4A53-B5C6-2C55A2DC1BBF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80124-BFA3-4445-976C-FED7E72B5DE6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B1CC8A-4CFE-4561-A0CF-C6B914F4B439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DA4DEA-5023-4B24-A7AF-E9EA89EC246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06.08.20ГГ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CF1679-AFF6-4F3B-B822-9AB93F37820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F07962-7BCC-4108-8F90-8208DF957EE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9FEBD81-2B51-4198-8BC1-5A596FE45CE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1586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43E3D-7C6A-44BF-ABB6-12ABF87C2DC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A296B1-AA68-4444-ACAE-8EAB2EFCF42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06.08.20ГГ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ED4AB4-5EB5-475D-AB9A-305AAB0BE56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6012A-4FF0-4E86-AD9F-64095B7BE82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5586DE7-86AF-4088-B7C7-DAE95608E47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099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89AD48-53C3-41AB-9500-BBC52FB3409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06.08.20ГГ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2A9E55-6D73-46C0-A5B3-D5D41600F9E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7D187-1BCF-4670-A2A8-D3331F11361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514EFFA-F397-44E8-81C5-F8F821D4F91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74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9649C-C6B0-4320-AA99-0F772835F5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FD1B9-6F05-4EAD-BD83-ED9AEFC3311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6E72E9-B69B-4D3C-B692-4E576D67191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50B842-3A4F-41BE-899C-C27EA024817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06.08.20ГГ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469B0-A8DA-48F6-8FE4-4F1DA614920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70E7D-96D9-4FC9-8878-A7BD53EEA4B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E2DF85-D552-41A6-BC9A-3C323B72D5D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798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ECFE7-2AC2-4733-96A2-C895796BC1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B05864-4847-4AB3-A237-F8EB0D90B7D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CAC9C-9EFB-4134-BFD8-8CABFE4DA82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9C889-397E-4095-916A-7681AB22E8E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06.08.20ГГ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1A2A3-327B-43B7-A89F-87D6F8ED33A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AD189-DB8C-47DA-9F81-2FA906FE9A5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196AC36-7691-4470-B6C8-C4196C9529A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51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D4F32-2429-4DBD-B99B-C3BC5C7BC7F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AC8C7D-53F0-4C72-8C41-CEDE8D0319D1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F8510-23CA-49C8-9061-C05D8DA0F9A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06.08.20ГГ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61C67-F7B4-48F7-9AC4-4D346A08A61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CDE30-8ECF-4962-8538-D00A9356B7F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F3E4FCA-0359-4AD1-977B-C6AC826AADD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62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6EB235-A5CA-4085-B1BD-FCBB66170FE9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95A249-50FB-4836-87C1-DB428DACFEA4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62B39-39E2-4DBD-86E0-B9154C9FA59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06.08.20ГГ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ED784-F22A-4DE3-8BD2-7FF9B1FDF1A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9805B-70D1-4791-8EAD-26091D2A6F0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4765C63-66A4-4772-8F1D-853B5B328B5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934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3BA5FF5C-4381-4E4C-AA95-CA16CDCFE3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648" y="502920"/>
            <a:ext cx="10954512" cy="3246120"/>
          </a:xfrm>
        </p:spPr>
        <p:txBody>
          <a:bodyPr anchor="b" anchorCtr="1">
            <a:noAutofit/>
          </a:bodyPr>
          <a:lstStyle>
            <a:lvl1pPr algn="ctr">
              <a:defRPr lang="en-US" sz="6600"/>
            </a:lvl1pPr>
          </a:lstStyle>
          <a:p>
            <a:pPr lvl="0"/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5164FD-7A59-4C3A-AE80-C7FF441EDC9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12648" y="3758183"/>
            <a:ext cx="10954512" cy="1307592"/>
          </a:xfrm>
        </p:spPr>
        <p:txBody>
          <a:bodyPr anchorCtr="1">
            <a:noAutofit/>
          </a:bodyPr>
          <a:lstStyle>
            <a:lvl1pPr algn="ctr">
              <a:defRPr lang="en-US" sz="3200" cap="all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906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рыв раздела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CD1B141B-62B1-4722-8840-F5711F6807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7824" y="1325880"/>
            <a:ext cx="10460736" cy="2286000"/>
          </a:xfrm>
        </p:spPr>
        <p:txBody>
          <a:bodyPr anchor="b" anchorCtr="1">
            <a:noAutofit/>
          </a:bodyPr>
          <a:lstStyle>
            <a:lvl1pPr algn="ctr">
              <a:defRPr lang="en-US" sz="6600" spc="-150"/>
            </a:lvl1pPr>
          </a:lstStyle>
          <a:p>
            <a:pPr lvl="0"/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3A94B52-49CE-450F-813E-D5BF569D111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877824" y="3749039"/>
            <a:ext cx="10460736" cy="2286000"/>
          </a:xfrm>
        </p:spPr>
        <p:txBody>
          <a:bodyPr anchorCtr="1">
            <a:noAutofit/>
          </a:bodyPr>
          <a:lstStyle>
            <a:lvl1pPr algn="ctr">
              <a:defRPr lang="en-US" sz="3200" cap="all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23976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рыв раздела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3CD8FD3D-BF2C-41DA-8EF2-EC7D581EC4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54296" y="27432"/>
            <a:ext cx="7004303" cy="3566160"/>
          </a:xfrm>
        </p:spPr>
        <p:txBody>
          <a:bodyPr anchor="b" anchorCtr="1">
            <a:noAutofit/>
          </a:bodyPr>
          <a:lstStyle>
            <a:lvl1pPr algn="ctr">
              <a:defRPr lang="en-US" sz="6000" spc="-150"/>
            </a:lvl1pPr>
          </a:lstStyle>
          <a:p>
            <a:pPr lvl="0"/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06F523C-4305-4845-B276-DE739B9DBAA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654296" y="3767327"/>
            <a:ext cx="7004303" cy="1161288"/>
          </a:xfrm>
        </p:spPr>
        <p:txBody>
          <a:bodyPr anchorCtr="1">
            <a:noAutofit/>
          </a:bodyPr>
          <a:lstStyle>
            <a:lvl1pPr algn="ctr">
              <a:defRPr lang="en-US" sz="3200" cap="all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39506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FF93BD-3069-4E56-8D0F-71B3462266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05955-12E3-4DFD-9EE3-D068120167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80838-9B47-4E5D-ADD1-3EF56F2C488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200" b="0" i="0" u="none" strike="noStrike" kern="1200" cap="none" spc="0" baseline="0">
                <a:solidFill>
                  <a:srgbClr val="E3E3E3"/>
                </a:solidFill>
                <a:uFillTx/>
                <a:latin typeface="Calibri"/>
              </a:defRPr>
            </a:lvl1pPr>
          </a:lstStyle>
          <a:p>
            <a:pPr lvl="0"/>
            <a:r>
              <a:rPr lang="ru-RU"/>
              <a:t>06.08.20ГГ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EC5B2-7A6D-4D99-A941-C5512AED9D50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E3E3E3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FDC0F-8E3A-43FF-B5A6-501D8D5CE1D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E3E3E3"/>
                </a:solidFill>
                <a:uFillTx/>
                <a:latin typeface="Calibri"/>
              </a:defRPr>
            </a:lvl1pPr>
          </a:lstStyle>
          <a:p>
            <a:pPr lvl="0"/>
            <a:fld id="{05748D67-958F-4F4E-8AF2-5E8259188EF0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ru-RU" sz="4400" b="0" i="0" u="none" strike="noStrike" kern="1200" cap="none" spc="0" baseline="0">
          <a:solidFill>
            <a:srgbClr val="D8D8D8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ru-RU" sz="2800" b="0" i="0" u="none" strike="noStrike" kern="1200" cap="none" spc="0" baseline="0">
          <a:solidFill>
            <a:srgbClr val="D8D8D8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2400" b="0" i="0" u="none" strike="noStrike" kern="1200" cap="none" spc="0" baseline="0">
          <a:solidFill>
            <a:srgbClr val="D8D8D8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2000" b="0" i="0" u="none" strike="noStrike" kern="1200" cap="none" spc="0" baseline="0">
          <a:solidFill>
            <a:srgbClr val="D8D8D8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1800" b="0" i="0" u="none" strike="noStrike" kern="1200" cap="none" spc="0" baseline="0">
          <a:solidFill>
            <a:srgbClr val="D8D8D8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1800" b="0" i="0" u="none" strike="noStrike" kern="1200" cap="none" spc="0" baseline="0">
          <a:solidFill>
            <a:srgbClr val="D8D8D8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8">
            <a:extLst>
              <a:ext uri="{FF2B5EF4-FFF2-40B4-BE49-F238E27FC236}">
                <a16:creationId xmlns:a16="http://schemas.microsoft.com/office/drawing/2014/main" id="{8AA96EE2-01A6-4CED-B8F3-53A71CE3EB05}"/>
              </a:ext>
            </a:extLst>
          </p:cNvPr>
          <p:cNvSpPr/>
          <p:nvPr/>
        </p:nvSpPr>
        <p:spPr>
          <a:xfrm>
            <a:off x="1860803" y="1050133"/>
            <a:ext cx="8458200" cy="4757732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9BF577"/>
          </a:solidFill>
          <a:ln w="12701" cap="flat">
            <a:solidFill>
              <a:srgbClr val="1B806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D8D8D8"/>
              </a:solidFill>
              <a:uFillTx/>
              <a:latin typeface="Calibri"/>
            </a:endParaRPr>
          </a:p>
        </p:txBody>
      </p:sp>
      <p:sp>
        <p:nvSpPr>
          <p:cNvPr id="3" name="Прямоугольник: скругленные углы 18">
            <a:extLst>
              <a:ext uri="{FF2B5EF4-FFF2-40B4-BE49-F238E27FC236}">
                <a16:creationId xmlns:a16="http://schemas.microsoft.com/office/drawing/2014/main" id="{B925337C-6C3C-4FC0-8FB3-F3F308CCC85F}"/>
              </a:ext>
            </a:extLst>
          </p:cNvPr>
          <p:cNvSpPr/>
          <p:nvPr/>
        </p:nvSpPr>
        <p:spPr>
          <a:xfrm>
            <a:off x="1872992" y="1050133"/>
            <a:ext cx="8446001" cy="4757732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A8EAD9"/>
          </a:solidFill>
          <a:ln w="12701" cap="flat">
            <a:solidFill>
              <a:srgbClr val="1B806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D8D8D8"/>
              </a:solidFill>
              <a:uFillTx/>
              <a:latin typeface="Calibri"/>
            </a:endParaRPr>
          </a:p>
        </p:txBody>
      </p:sp>
      <p:sp>
        <p:nvSpPr>
          <p:cNvPr id="4" name="Заголовок 1">
            <a:extLst>
              <a:ext uri="{FF2B5EF4-FFF2-40B4-BE49-F238E27FC236}">
                <a16:creationId xmlns:a16="http://schemas.microsoft.com/office/drawing/2014/main" id="{C580DEBE-43A8-4AF0-A1FB-C0A1EE45F8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648" y="1708785"/>
            <a:ext cx="10954512" cy="1834514"/>
          </a:xfrm>
        </p:spPr>
        <p:txBody>
          <a:bodyPr/>
          <a:lstStyle/>
          <a:p>
            <a:pPr lvl="0"/>
            <a:r>
              <a:rPr lang="ru-RU" sz="6000">
                <a:solidFill>
                  <a:srgbClr val="10092D"/>
                </a:solidFill>
              </a:rPr>
              <a:t>КАЛЬКУЛЯТОР</a:t>
            </a:r>
            <a:br>
              <a:rPr lang="ru-RU" sz="6000">
                <a:solidFill>
                  <a:srgbClr val="10092D"/>
                </a:solidFill>
              </a:rPr>
            </a:br>
            <a:r>
              <a:rPr lang="ru-RU" sz="6000">
                <a:solidFill>
                  <a:srgbClr val="10092D"/>
                </a:solidFill>
              </a:rPr>
              <a:t>СИСТЕМ СЧИСЛЕНИЯ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129C5914-3EA3-44F8-BFC5-92E12606E8B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063941" y="3749039"/>
            <a:ext cx="4051935" cy="1307592"/>
          </a:xfrm>
        </p:spPr>
        <p:txBody>
          <a:bodyPr anchorCtr="1">
            <a:noAutofit/>
          </a:bodyPr>
          <a:lstStyle/>
          <a:p>
            <a:pPr lvl="0" algn="ctr"/>
            <a:r>
              <a:rPr lang="ru-RU" cap="all">
                <a:solidFill>
                  <a:srgbClr val="10092D"/>
                </a:solidFill>
              </a:rPr>
              <a:t>Смирнова Анастасия</a:t>
            </a:r>
          </a:p>
          <a:p>
            <a:pPr lvl="0"/>
            <a:r>
              <a:rPr lang="ru-RU" cap="all">
                <a:solidFill>
                  <a:srgbClr val="10092D"/>
                </a:solidFill>
              </a:rPr>
              <a:t>Транкина Камила</a:t>
            </a:r>
            <a:endParaRPr lang="en-US" cap="all">
              <a:solidFill>
                <a:srgbClr val="10092D"/>
              </a:solidFill>
            </a:endParaRPr>
          </a:p>
          <a:p>
            <a:pPr lvl="0"/>
            <a:r>
              <a:rPr lang="ru-RU" cap="all">
                <a:solidFill>
                  <a:srgbClr val="10092D"/>
                </a:solidFill>
              </a:rPr>
              <a:t>Берлиба Евгения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8">
            <a:extLst>
              <a:ext uri="{FF2B5EF4-FFF2-40B4-BE49-F238E27FC236}">
                <a16:creationId xmlns:a16="http://schemas.microsoft.com/office/drawing/2014/main" id="{4141E27B-7FD3-414B-B426-36D04B5C653B}"/>
              </a:ext>
            </a:extLst>
          </p:cNvPr>
          <p:cNvSpPr/>
          <p:nvPr/>
        </p:nvSpPr>
        <p:spPr>
          <a:xfrm>
            <a:off x="2143125" y="1763072"/>
            <a:ext cx="7934321" cy="1284924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A8EAD9"/>
          </a:solidFill>
          <a:ln w="12701" cap="flat">
            <a:solidFill>
              <a:srgbClr val="1B806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D8D8D8"/>
              </a:solidFill>
              <a:uFillTx/>
              <a:latin typeface="Calibri"/>
            </a:endParaRPr>
          </a:p>
        </p:txBody>
      </p:sp>
      <p:sp>
        <p:nvSpPr>
          <p:cNvPr id="3" name="Заголовок 1">
            <a:extLst>
              <a:ext uri="{FF2B5EF4-FFF2-40B4-BE49-F238E27FC236}">
                <a16:creationId xmlns:a16="http://schemas.microsoft.com/office/drawing/2014/main" id="{0AF711A3-34A7-43C5-97AE-1D1A5BDE96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8226" y="1763072"/>
            <a:ext cx="4435544" cy="1106808"/>
          </a:xfrm>
        </p:spPr>
        <p:txBody>
          <a:bodyPr/>
          <a:lstStyle/>
          <a:p>
            <a:pPr lvl="0"/>
            <a:r>
              <a:rPr lang="ru-RU" sz="5400">
                <a:solidFill>
                  <a:srgbClr val="10092D"/>
                </a:solidFill>
              </a:rPr>
              <a:t>ЦЕЛЬ РАБОТЫ: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F4201704-5EC4-467B-86CD-2ACE48B247B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177317" y="3429000"/>
            <a:ext cx="9865927" cy="1106808"/>
          </a:xfrm>
        </p:spPr>
        <p:txBody>
          <a:bodyPr anchorCtr="1">
            <a:noAutofit/>
          </a:bodyPr>
          <a:lstStyle/>
          <a:p>
            <a:pPr marL="0" lvl="0" indent="0" algn="just">
              <a:buNone/>
            </a:pPr>
            <a:r>
              <a:rPr lang="ru-RU"/>
              <a:t>Создать калькулятор для перевода из разных систем счисления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9">
            <a:extLst>
              <a:ext uri="{FF2B5EF4-FFF2-40B4-BE49-F238E27FC236}">
                <a16:creationId xmlns:a16="http://schemas.microsoft.com/office/drawing/2014/main" id="{03A9B700-0AE0-41BE-A3AA-F910E775D274}"/>
              </a:ext>
            </a:extLst>
          </p:cNvPr>
          <p:cNvSpPr/>
          <p:nvPr/>
        </p:nvSpPr>
        <p:spPr>
          <a:xfrm>
            <a:off x="1209668" y="1604964"/>
            <a:ext cx="5695953" cy="3595685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D99DF1"/>
          </a:solidFill>
          <a:ln w="12701" cap="flat">
            <a:solidFill>
              <a:srgbClr val="1B806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D8D8D8"/>
              </a:solidFill>
              <a:uFillTx/>
              <a:latin typeface="Calibri"/>
            </a:endParaRPr>
          </a:p>
        </p:txBody>
      </p:sp>
      <p:sp>
        <p:nvSpPr>
          <p:cNvPr id="3" name="Заголовок 1">
            <a:extLst>
              <a:ext uri="{FF2B5EF4-FFF2-40B4-BE49-F238E27FC236}">
                <a16:creationId xmlns:a16="http://schemas.microsoft.com/office/drawing/2014/main" id="{3C29BF88-A9A8-4B54-9C79-705E0DAC88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7675" y="1949765"/>
            <a:ext cx="5490395" cy="2570799"/>
          </a:xfrm>
        </p:spPr>
        <p:txBody>
          <a:bodyPr/>
          <a:lstStyle/>
          <a:p>
            <a:pPr lvl="0" algn="l"/>
            <a:r>
              <a:rPr lang="ru-RU" sz="5400">
                <a:solidFill>
                  <a:srgbClr val="10092D"/>
                </a:solidFill>
              </a:rPr>
              <a:t>БЫЛИ ИСПОЛЬЗОВАНЫ ЯЗЫКИ: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C1525B61-CCAF-4087-B7C1-D6716D29473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8351425" y="2439354"/>
            <a:ext cx="2632895" cy="1591632"/>
          </a:xfrm>
        </p:spPr>
        <p:txBody>
          <a:bodyPr anchorCtr="1">
            <a:noAutofit/>
          </a:bodyPr>
          <a:lstStyle/>
          <a:p>
            <a:pPr marL="342900" lvl="0" indent="-342900">
              <a:buFont typeface="Arial"/>
            </a:pPr>
            <a:r>
              <a:rPr lang="ru-RU" sz="3200"/>
              <a:t>HTML</a:t>
            </a:r>
            <a:endParaRPr lang="en-US" sz="3200">
              <a:solidFill>
                <a:srgbClr val="000000"/>
              </a:solidFill>
            </a:endParaRPr>
          </a:p>
          <a:p>
            <a:pPr marL="342900" lvl="0" indent="-342900">
              <a:buFont typeface="Arial"/>
            </a:pPr>
            <a:r>
              <a:rPr lang="ru-RU" sz="3200"/>
              <a:t>CSS</a:t>
            </a:r>
            <a:endParaRPr lang="en-US" sz="3200">
              <a:solidFill>
                <a:srgbClr val="000000"/>
              </a:solidFill>
            </a:endParaRPr>
          </a:p>
          <a:p>
            <a:pPr marL="342900" lvl="0" indent="-342900">
              <a:buFont typeface="Arial"/>
            </a:pPr>
            <a:r>
              <a:rPr lang="ru-RU" sz="3200"/>
              <a:t>JavaScript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8">
            <a:extLst>
              <a:ext uri="{FF2B5EF4-FFF2-40B4-BE49-F238E27FC236}">
                <a16:creationId xmlns:a16="http://schemas.microsoft.com/office/drawing/2014/main" id="{BDFD57F9-C342-4A50-B5B3-458ED5632DF9}"/>
              </a:ext>
            </a:extLst>
          </p:cNvPr>
          <p:cNvSpPr/>
          <p:nvPr/>
        </p:nvSpPr>
        <p:spPr>
          <a:xfrm>
            <a:off x="836611" y="1690689"/>
            <a:ext cx="2743200" cy="4508504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A8EAD9"/>
          </a:solidFill>
          <a:ln w="12701" cap="flat">
            <a:solidFill>
              <a:srgbClr val="1B806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D8D8D8"/>
              </a:solidFill>
              <a:uFillTx/>
              <a:latin typeface="Calibri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BEB3CDF-DCEE-4F67-83E4-C03D1506865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ru-RU"/>
              <a:t>Плюсы нашего калькулятора: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E47DEB43-CDF1-4037-8C38-A1C82A62C3E4}"/>
              </a:ext>
            </a:extLst>
          </p:cNvPr>
          <p:cNvSpPr txBox="1"/>
          <p:nvPr/>
        </p:nvSpPr>
        <p:spPr>
          <a:xfrm>
            <a:off x="4973641" y="1681160"/>
            <a:ext cx="2743200" cy="8239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3200" b="1" i="0" u="none" strike="noStrike" kern="1200" cap="none" spc="0" baseline="0">
                <a:solidFill>
                  <a:srgbClr val="10092D"/>
                </a:solidFill>
                <a:uFillTx/>
                <a:latin typeface="Calibri"/>
              </a:rPr>
              <a:t>Дизайн</a:t>
            </a:r>
          </a:p>
        </p:txBody>
      </p:sp>
      <p:sp>
        <p:nvSpPr>
          <p:cNvPr id="5" name="Объект 3">
            <a:extLst>
              <a:ext uri="{FF2B5EF4-FFF2-40B4-BE49-F238E27FC236}">
                <a16:creationId xmlns:a16="http://schemas.microsoft.com/office/drawing/2014/main" id="{1D10AC91-7C66-4173-A653-47D2DCA1229B}"/>
              </a:ext>
            </a:extLst>
          </p:cNvPr>
          <p:cNvSpPr txBox="1"/>
          <p:nvPr/>
        </p:nvSpPr>
        <p:spPr>
          <a:xfrm>
            <a:off x="4973641" y="2505071"/>
            <a:ext cx="2743200" cy="368458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800" b="0" i="0" u="none" strike="noStrike" kern="1200" cap="none" spc="0" baseline="0">
                <a:solidFill>
                  <a:srgbClr val="10092D"/>
                </a:solidFill>
                <a:uFillTx/>
                <a:latin typeface="Calibri"/>
              </a:rPr>
              <a:t>Приятные и лаконичные цвета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1D825B87-39DB-4C08-AABC-BE8EA7E944C9}"/>
              </a:ext>
            </a:extLst>
          </p:cNvPr>
          <p:cNvSpPr txBox="1"/>
          <p:nvPr/>
        </p:nvSpPr>
        <p:spPr>
          <a:xfrm>
            <a:off x="8859841" y="1681160"/>
            <a:ext cx="2743200" cy="8239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3200" b="1" i="0" u="none" strike="noStrike" kern="1200" cap="none" spc="0" baseline="0">
                <a:solidFill>
                  <a:srgbClr val="10092D"/>
                </a:solidFill>
                <a:uFillTx/>
                <a:latin typeface="Calibri"/>
              </a:rPr>
              <a:t>Дизайн</a:t>
            </a:r>
          </a:p>
        </p:txBody>
      </p:sp>
      <p:sp>
        <p:nvSpPr>
          <p:cNvPr id="7" name="Объект 3">
            <a:extLst>
              <a:ext uri="{FF2B5EF4-FFF2-40B4-BE49-F238E27FC236}">
                <a16:creationId xmlns:a16="http://schemas.microsoft.com/office/drawing/2014/main" id="{94613758-2712-469E-B98A-AE865D0361EE}"/>
              </a:ext>
            </a:extLst>
          </p:cNvPr>
          <p:cNvSpPr txBox="1"/>
          <p:nvPr/>
        </p:nvSpPr>
        <p:spPr>
          <a:xfrm>
            <a:off x="8859841" y="2505071"/>
            <a:ext cx="2743200" cy="368458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800" b="0" i="0" u="none" strike="noStrike" kern="1200" cap="none" spc="0" baseline="0">
                <a:solidFill>
                  <a:srgbClr val="10092D"/>
                </a:solidFill>
                <a:uFillTx/>
                <a:latin typeface="Calibri"/>
              </a:rPr>
              <a:t>Приятные и лаконичные цвета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359DBC5B-5D69-496A-B0E6-9D2DD490B96C}"/>
              </a:ext>
            </a:extLst>
          </p:cNvPr>
          <p:cNvSpPr txBox="1"/>
          <p:nvPr/>
        </p:nvSpPr>
        <p:spPr>
          <a:xfrm>
            <a:off x="1087441" y="1690689"/>
            <a:ext cx="2743200" cy="8239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3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Дизайн</a:t>
            </a:r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6EDEF355-3423-467C-92B8-3238791E3ABD}"/>
              </a:ext>
            </a:extLst>
          </p:cNvPr>
          <p:cNvSpPr txBox="1"/>
          <p:nvPr/>
        </p:nvSpPr>
        <p:spPr>
          <a:xfrm>
            <a:off x="962021" y="2501112"/>
            <a:ext cx="2743200" cy="368458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457200" marR="0" lvl="0" indent="-4572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Приятные и лаконичные цвета</a:t>
            </a:r>
          </a:p>
          <a:p>
            <a:pPr marL="457200" marR="0" lvl="0" indent="-4572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Удобная навигация</a:t>
            </a:r>
          </a:p>
          <a:p>
            <a:pPr marL="457200" marR="0" lvl="0" indent="-4572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Поддержка светлой и тёмной темы</a:t>
            </a: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2800" b="0" i="0" u="none" strike="noStrike" kern="1200" cap="none" spc="0" baseline="0">
              <a:solidFill>
                <a:srgbClr val="D8D8D8"/>
              </a:solidFill>
              <a:uFillTx/>
              <a:latin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9">
            <a:extLst>
              <a:ext uri="{FF2B5EF4-FFF2-40B4-BE49-F238E27FC236}">
                <a16:creationId xmlns:a16="http://schemas.microsoft.com/office/drawing/2014/main" id="{A94457EC-3AA5-4EBA-9003-E247FED60655}"/>
              </a:ext>
            </a:extLst>
          </p:cNvPr>
          <p:cNvSpPr/>
          <p:nvPr/>
        </p:nvSpPr>
        <p:spPr>
          <a:xfrm>
            <a:off x="4724403" y="1690689"/>
            <a:ext cx="2743200" cy="4508504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D99DF1"/>
          </a:solidFill>
          <a:ln w="12701" cap="flat">
            <a:solidFill>
              <a:srgbClr val="1B806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D8D8D8"/>
              </a:solidFill>
              <a:uFillTx/>
              <a:latin typeface="Calibri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6A2E6261-B58B-481E-847D-7936032F6AE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ru-RU"/>
              <a:t>Плюсы нашего калькулятора: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CA8969D5-D01D-4353-9BC2-8BE02913375B}"/>
              </a:ext>
            </a:extLst>
          </p:cNvPr>
          <p:cNvSpPr txBox="1"/>
          <p:nvPr/>
        </p:nvSpPr>
        <p:spPr>
          <a:xfrm>
            <a:off x="4973641" y="1681160"/>
            <a:ext cx="2743200" cy="8239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32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Функционал</a:t>
            </a:r>
            <a:endParaRPr lang="ru-RU" sz="3200" b="1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Текст 2">
            <a:extLst>
              <a:ext uri="{FF2B5EF4-FFF2-40B4-BE49-F238E27FC236}">
                <a16:creationId xmlns:a16="http://schemas.microsoft.com/office/drawing/2014/main" id="{2DFAA805-1014-48C0-98CD-5042F04F7E52}"/>
              </a:ext>
            </a:extLst>
          </p:cNvPr>
          <p:cNvSpPr txBox="1"/>
          <p:nvPr/>
        </p:nvSpPr>
        <p:spPr>
          <a:xfrm>
            <a:off x="8859841" y="1681160"/>
            <a:ext cx="2743200" cy="8239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3200" b="1" i="0" u="none" strike="noStrike" kern="1200" cap="none" spc="0" baseline="0">
                <a:solidFill>
                  <a:srgbClr val="10092D"/>
                </a:solidFill>
                <a:uFillTx/>
                <a:latin typeface="Calibri"/>
              </a:rPr>
              <a:t>Дизайн</a:t>
            </a:r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B5838C42-29D2-4C94-AD65-D464DFBD8AE7}"/>
              </a:ext>
            </a:extLst>
          </p:cNvPr>
          <p:cNvSpPr txBox="1"/>
          <p:nvPr/>
        </p:nvSpPr>
        <p:spPr>
          <a:xfrm>
            <a:off x="8859841" y="2505071"/>
            <a:ext cx="2743200" cy="368458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800" b="0" i="0" u="none" strike="noStrike" kern="1200" cap="none" spc="0" baseline="0">
                <a:solidFill>
                  <a:srgbClr val="10092D"/>
                </a:solidFill>
                <a:uFillTx/>
                <a:latin typeface="Calibri"/>
              </a:rPr>
              <a:t>Приятные и лаконичные цвета</a:t>
            </a: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DB9C2ADB-2E0F-4D79-9786-B690DFD700F2}"/>
              </a:ext>
            </a:extLst>
          </p:cNvPr>
          <p:cNvSpPr txBox="1"/>
          <p:nvPr/>
        </p:nvSpPr>
        <p:spPr>
          <a:xfrm>
            <a:off x="1087441" y="1690689"/>
            <a:ext cx="2743200" cy="8239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3200" b="1" i="0" u="none" strike="noStrike" kern="1200" cap="none" spc="0" baseline="0">
                <a:solidFill>
                  <a:srgbClr val="D8D8D8"/>
                </a:solidFill>
                <a:uFillTx/>
                <a:latin typeface="Calibri"/>
              </a:rPr>
              <a:t>Дизайн</a:t>
            </a:r>
          </a:p>
        </p:txBody>
      </p:sp>
      <p:sp>
        <p:nvSpPr>
          <p:cNvPr id="8" name="Объект 3">
            <a:extLst>
              <a:ext uri="{FF2B5EF4-FFF2-40B4-BE49-F238E27FC236}">
                <a16:creationId xmlns:a16="http://schemas.microsoft.com/office/drawing/2014/main" id="{C700E5D0-63E4-4CB6-B610-26DDF29D60B7}"/>
              </a:ext>
            </a:extLst>
          </p:cNvPr>
          <p:cNvSpPr txBox="1"/>
          <p:nvPr/>
        </p:nvSpPr>
        <p:spPr>
          <a:xfrm>
            <a:off x="962021" y="2501112"/>
            <a:ext cx="2743200" cy="368458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457200" marR="0" lvl="0" indent="-4572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0" cap="none" spc="0" baseline="0">
                <a:solidFill>
                  <a:srgbClr val="D8D8D8"/>
                </a:solidFill>
                <a:uFillTx/>
                <a:latin typeface="Calibri"/>
              </a:rPr>
              <a:t>Приятные и лаконичные цвета</a:t>
            </a:r>
          </a:p>
          <a:p>
            <a:pPr marL="457200" marR="0" lvl="0" indent="-4572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0" cap="none" spc="0" baseline="0">
                <a:solidFill>
                  <a:srgbClr val="D8D8D8"/>
                </a:solidFill>
                <a:uFillTx/>
                <a:latin typeface="Calibri"/>
              </a:rPr>
              <a:t>Удобная навигация</a:t>
            </a:r>
          </a:p>
          <a:p>
            <a:pPr marL="457200" marR="0" lvl="0" indent="-4572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0" cap="none" spc="0" baseline="0">
                <a:solidFill>
                  <a:srgbClr val="D8D8D8"/>
                </a:solidFill>
                <a:uFillTx/>
                <a:latin typeface="Calibri"/>
              </a:rPr>
              <a:t>Поддержка светлой и тёмной темы</a:t>
            </a: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2800" b="0" i="0" u="none" strike="noStrike" kern="1200" cap="none" spc="0" baseline="0">
              <a:solidFill>
                <a:srgbClr val="D8D8D8"/>
              </a:solidFill>
              <a:uFillTx/>
              <a:latin typeface="Calibri"/>
            </a:endParaRPr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05D99F7F-B4C8-4B76-9CF5-24D07DE55377}"/>
              </a:ext>
            </a:extLst>
          </p:cNvPr>
          <p:cNvSpPr txBox="1"/>
          <p:nvPr/>
        </p:nvSpPr>
        <p:spPr>
          <a:xfrm>
            <a:off x="4849017" y="2501112"/>
            <a:ext cx="2743200" cy="368458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342900" marR="0" lvl="0" indent="-3429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Перевод между любыми системами счисления</a:t>
            </a:r>
          </a:p>
          <a:p>
            <a:pPr marL="342900" marR="0" lvl="0" indent="-3429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Поддержка дробных чисел</a:t>
            </a:r>
          </a:p>
          <a:p>
            <a:pPr marL="342900" marR="0" lvl="0" indent="-3429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Перевод в </a:t>
            </a:r>
            <a:r>
              <a:rPr lang="en-US" sz="24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IEEE 754</a:t>
            </a:r>
          </a:p>
          <a:p>
            <a:pPr marL="342900" marR="0" lvl="0" indent="-3429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2400" b="0" i="0" u="none" strike="noStrike" kern="0" cap="none" spc="0" baseline="0">
              <a:solidFill>
                <a:srgbClr val="D8D8D8"/>
              </a:solidFill>
              <a:uFillTx/>
              <a:latin typeface="Calibri"/>
            </a:endParaRPr>
          </a:p>
          <a:p>
            <a:pPr marL="342900" marR="0" lvl="0" indent="-3429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2400" b="0" i="0" u="none" strike="noStrike" kern="1200" cap="none" spc="0" baseline="0">
              <a:solidFill>
                <a:srgbClr val="D8D8D8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8">
            <a:extLst>
              <a:ext uri="{FF2B5EF4-FFF2-40B4-BE49-F238E27FC236}">
                <a16:creationId xmlns:a16="http://schemas.microsoft.com/office/drawing/2014/main" id="{9F7D1ACA-A46B-4597-BAA5-3526A994487C}"/>
              </a:ext>
            </a:extLst>
          </p:cNvPr>
          <p:cNvSpPr/>
          <p:nvPr/>
        </p:nvSpPr>
        <p:spPr>
          <a:xfrm>
            <a:off x="8612184" y="1695453"/>
            <a:ext cx="2743200" cy="4508504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9BF577"/>
          </a:solidFill>
          <a:ln w="12701" cap="flat">
            <a:solidFill>
              <a:srgbClr val="1B806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D8D8D8"/>
              </a:solidFill>
              <a:uFillTx/>
              <a:latin typeface="Calibri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62FEFB77-096B-46A0-8526-BB47D8559C8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ru-RU"/>
              <a:t>Плюсы нашего калькулятора: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F9F93640-EED7-4823-85EC-9FF143A04719}"/>
              </a:ext>
            </a:extLst>
          </p:cNvPr>
          <p:cNvSpPr txBox="1"/>
          <p:nvPr/>
        </p:nvSpPr>
        <p:spPr>
          <a:xfrm>
            <a:off x="4973641" y="1681160"/>
            <a:ext cx="2743200" cy="8239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3200" b="1" i="0" u="none" strike="noStrike" kern="0" cap="none" spc="0" baseline="0">
                <a:solidFill>
                  <a:srgbClr val="D8D8D8"/>
                </a:solidFill>
                <a:uFillTx/>
                <a:latin typeface="Calibri"/>
              </a:rPr>
              <a:t>Функционал</a:t>
            </a:r>
            <a:endParaRPr lang="ru-RU" sz="3200" b="1" i="0" u="none" strike="noStrike" kern="1200" cap="none" spc="0" baseline="0">
              <a:solidFill>
                <a:srgbClr val="D8D8D8"/>
              </a:solidFill>
              <a:uFillTx/>
              <a:latin typeface="Calibri"/>
            </a:endParaRPr>
          </a:p>
        </p:txBody>
      </p:sp>
      <p:sp>
        <p:nvSpPr>
          <p:cNvPr id="5" name="Текст 2">
            <a:extLst>
              <a:ext uri="{FF2B5EF4-FFF2-40B4-BE49-F238E27FC236}">
                <a16:creationId xmlns:a16="http://schemas.microsoft.com/office/drawing/2014/main" id="{F288ADB3-83A9-4292-B35A-E5B14C4461BB}"/>
              </a:ext>
            </a:extLst>
          </p:cNvPr>
          <p:cNvSpPr txBox="1"/>
          <p:nvPr/>
        </p:nvSpPr>
        <p:spPr>
          <a:xfrm>
            <a:off x="8859841" y="1681160"/>
            <a:ext cx="2743200" cy="8239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32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Удобство</a:t>
            </a:r>
            <a:endParaRPr lang="ru-RU" sz="3200" b="1" i="0" u="none" strike="noStrike" kern="1200" cap="none" spc="0" baseline="0">
              <a:solidFill>
                <a:srgbClr val="10092D"/>
              </a:solidFill>
              <a:uFillTx/>
              <a:latin typeface="Calibri"/>
            </a:endParaRPr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5017C8C2-40FA-4B6F-9061-E7AE5B893078}"/>
              </a:ext>
            </a:extLst>
          </p:cNvPr>
          <p:cNvSpPr txBox="1"/>
          <p:nvPr/>
        </p:nvSpPr>
        <p:spPr>
          <a:xfrm>
            <a:off x="8736022" y="2516191"/>
            <a:ext cx="2743200" cy="368458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342900" marR="0" lvl="0" indent="-3429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Идеален для учёбы и практики</a:t>
            </a:r>
          </a:p>
          <a:p>
            <a:pPr marL="342900" marR="0" lvl="0" indent="-3429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Быстрый результат</a:t>
            </a: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0199A338-A411-426D-8232-CA06D26E541E}"/>
              </a:ext>
            </a:extLst>
          </p:cNvPr>
          <p:cNvSpPr txBox="1"/>
          <p:nvPr/>
        </p:nvSpPr>
        <p:spPr>
          <a:xfrm>
            <a:off x="1087441" y="1690689"/>
            <a:ext cx="2743200" cy="8239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3200" b="1" i="0" u="none" strike="noStrike" kern="1200" cap="none" spc="0" baseline="0">
                <a:solidFill>
                  <a:srgbClr val="D8D8D8"/>
                </a:solidFill>
                <a:uFillTx/>
                <a:latin typeface="Calibri"/>
              </a:rPr>
              <a:t>Дизайн</a:t>
            </a:r>
          </a:p>
        </p:txBody>
      </p:sp>
      <p:sp>
        <p:nvSpPr>
          <p:cNvPr id="8" name="Объект 3">
            <a:extLst>
              <a:ext uri="{FF2B5EF4-FFF2-40B4-BE49-F238E27FC236}">
                <a16:creationId xmlns:a16="http://schemas.microsoft.com/office/drawing/2014/main" id="{43789F1E-F965-4205-B196-00941C92B450}"/>
              </a:ext>
            </a:extLst>
          </p:cNvPr>
          <p:cNvSpPr txBox="1"/>
          <p:nvPr/>
        </p:nvSpPr>
        <p:spPr>
          <a:xfrm>
            <a:off x="962021" y="2501112"/>
            <a:ext cx="2743200" cy="368458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457200" marR="0" lvl="0" indent="-4572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0" cap="none" spc="0" baseline="0">
                <a:solidFill>
                  <a:srgbClr val="D8D8D8"/>
                </a:solidFill>
                <a:uFillTx/>
                <a:latin typeface="Calibri"/>
              </a:rPr>
              <a:t>Приятные и лаконичные цвета</a:t>
            </a:r>
          </a:p>
          <a:p>
            <a:pPr marL="457200" marR="0" lvl="0" indent="-4572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0" cap="none" spc="0" baseline="0">
                <a:solidFill>
                  <a:srgbClr val="D8D8D8"/>
                </a:solidFill>
                <a:uFillTx/>
                <a:latin typeface="Calibri"/>
              </a:rPr>
              <a:t>Удобная навигация</a:t>
            </a:r>
          </a:p>
          <a:p>
            <a:pPr marL="457200" marR="0" lvl="0" indent="-4572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0" cap="none" spc="0" baseline="0">
                <a:solidFill>
                  <a:srgbClr val="D8D8D8"/>
                </a:solidFill>
                <a:uFillTx/>
                <a:latin typeface="Calibri"/>
              </a:rPr>
              <a:t>Поддержка светлой и тёмной темы</a:t>
            </a: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2800" b="0" i="0" u="none" strike="noStrike" kern="1200" cap="none" spc="0" baseline="0">
              <a:solidFill>
                <a:srgbClr val="D8D8D8"/>
              </a:solidFill>
              <a:uFillTx/>
              <a:latin typeface="Calibri"/>
            </a:endParaRPr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3D593AB4-70AD-4AD9-B8E9-B5C92875392C}"/>
              </a:ext>
            </a:extLst>
          </p:cNvPr>
          <p:cNvSpPr txBox="1"/>
          <p:nvPr/>
        </p:nvSpPr>
        <p:spPr>
          <a:xfrm>
            <a:off x="4849017" y="2501112"/>
            <a:ext cx="2743200" cy="368458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342900" marR="0" lvl="0" indent="-3429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0" cap="none" spc="0" baseline="0">
                <a:solidFill>
                  <a:srgbClr val="D8D8D8"/>
                </a:solidFill>
                <a:uFillTx/>
                <a:latin typeface="Calibri"/>
              </a:rPr>
              <a:t>Перевод между любыми системами счисления</a:t>
            </a:r>
          </a:p>
          <a:p>
            <a:pPr marL="342900" marR="0" lvl="0" indent="-3429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0" cap="none" spc="0" baseline="0">
                <a:solidFill>
                  <a:srgbClr val="D8D8D8"/>
                </a:solidFill>
                <a:uFillTx/>
                <a:latin typeface="Calibri"/>
              </a:rPr>
              <a:t>Поддержка дробных чисел</a:t>
            </a:r>
          </a:p>
          <a:p>
            <a:pPr marL="342900" marR="0" lvl="0" indent="-3429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0" cap="none" spc="0" baseline="0">
                <a:solidFill>
                  <a:srgbClr val="D8D8D8"/>
                </a:solidFill>
                <a:uFillTx/>
                <a:latin typeface="Calibri"/>
              </a:rPr>
              <a:t>Перевод в </a:t>
            </a:r>
            <a:r>
              <a:rPr lang="en-US" sz="2400" b="1" i="0" u="none" strike="noStrike" kern="0" cap="none" spc="0" baseline="0">
                <a:solidFill>
                  <a:srgbClr val="D8D8D8"/>
                </a:solidFill>
                <a:uFillTx/>
                <a:latin typeface="Calibri"/>
              </a:rPr>
              <a:t>IEEE 754</a:t>
            </a:r>
          </a:p>
          <a:p>
            <a:pPr marL="342900" marR="0" lvl="0" indent="-3429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2400" b="0" i="0" u="none" strike="noStrike" kern="0" cap="none" spc="0" baseline="0">
              <a:solidFill>
                <a:srgbClr val="D8D8D8"/>
              </a:solidFill>
              <a:uFillTx/>
              <a:latin typeface="Calibri"/>
            </a:endParaRPr>
          </a:p>
          <a:p>
            <a:pPr marL="342900" marR="0" lvl="0" indent="-3429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2400" b="0" i="0" u="none" strike="noStrike" kern="1200" cap="none" spc="0" baseline="0">
              <a:solidFill>
                <a:srgbClr val="D8D8D8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9">
            <a:extLst>
              <a:ext uri="{FF2B5EF4-FFF2-40B4-BE49-F238E27FC236}">
                <a16:creationId xmlns:a16="http://schemas.microsoft.com/office/drawing/2014/main" id="{ABE8C1E4-54A7-42AC-A777-BBDDEA214D1B}"/>
              </a:ext>
            </a:extLst>
          </p:cNvPr>
          <p:cNvSpPr/>
          <p:nvPr/>
        </p:nvSpPr>
        <p:spPr>
          <a:xfrm>
            <a:off x="2390771" y="2419346"/>
            <a:ext cx="7324728" cy="1990721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D99DF1"/>
          </a:solidFill>
          <a:ln w="12701" cap="flat">
            <a:solidFill>
              <a:srgbClr val="1B806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D8D8D8"/>
              </a:solidFill>
              <a:uFillTx/>
              <a:latin typeface="Calibri"/>
            </a:endParaRPr>
          </a:p>
        </p:txBody>
      </p:sp>
      <p:sp>
        <p:nvSpPr>
          <p:cNvPr id="3" name="Заголовок 1">
            <a:extLst>
              <a:ext uri="{FF2B5EF4-FFF2-40B4-BE49-F238E27FC236}">
                <a16:creationId xmlns:a16="http://schemas.microsoft.com/office/drawing/2014/main" id="{CA1D0AB7-CF18-4633-80B5-5D8EAEA173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34540" y="2927597"/>
            <a:ext cx="4770497" cy="974220"/>
          </a:xfrm>
        </p:spPr>
        <p:txBody>
          <a:bodyPr/>
          <a:lstStyle/>
          <a:p>
            <a:pPr lvl="0"/>
            <a:r>
              <a:rPr lang="ru-RU" sz="5400">
                <a:solidFill>
                  <a:srgbClr val="10092D"/>
                </a:solidFill>
              </a:rPr>
              <a:t>ВНЕШНИЙ ВИД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B581BF-444B-4E85-91CE-327985061D3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ru-RU"/>
              <a:t>Светлая тема</a:t>
            </a:r>
          </a:p>
        </p:txBody>
      </p:sp>
      <p:pic>
        <p:nvPicPr>
          <p:cNvPr id="3" name="Рисунок 9">
            <a:extLst>
              <a:ext uri="{FF2B5EF4-FFF2-40B4-BE49-F238E27FC236}">
                <a16:creationId xmlns:a16="http://schemas.microsoft.com/office/drawing/2014/main" id="{34BC5E66-03FE-44E9-98EE-5E7EF1794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84" y="1848166"/>
            <a:ext cx="6776353" cy="336629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Рисунок 10">
            <a:extLst>
              <a:ext uri="{FF2B5EF4-FFF2-40B4-BE49-F238E27FC236}">
                <a16:creationId xmlns:a16="http://schemas.microsoft.com/office/drawing/2014/main" id="{87E43CB4-E989-4B30-9CB8-D0A70E613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550" y="1848166"/>
            <a:ext cx="3719952" cy="204793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Рисунок 11">
            <a:extLst>
              <a:ext uri="{FF2B5EF4-FFF2-40B4-BE49-F238E27FC236}">
                <a16:creationId xmlns:a16="http://schemas.microsoft.com/office/drawing/2014/main" id="{C43C7620-52C4-4DA2-BFE7-90C838706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550" y="4172270"/>
            <a:ext cx="3712043" cy="181896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F9BA56-33FE-4675-A41B-DCB2590060C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ru-RU"/>
              <a:t>Тёмная тема</a:t>
            </a:r>
          </a:p>
        </p:txBody>
      </p:sp>
      <p:pic>
        <p:nvPicPr>
          <p:cNvPr id="3" name="Рисунок 9">
            <a:extLst>
              <a:ext uri="{FF2B5EF4-FFF2-40B4-BE49-F238E27FC236}">
                <a16:creationId xmlns:a16="http://schemas.microsoft.com/office/drawing/2014/main" id="{5DC743DD-00E7-4B80-9472-EB615B00B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84" y="1848166"/>
            <a:ext cx="6776353" cy="336629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88B09868-CACE-4547-8397-99E5C39CD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84" y="1848166"/>
            <a:ext cx="6776353" cy="3369957"/>
          </a:xfrm>
          <a:prstGeom prst="rect">
            <a:avLst/>
          </a:prstGeom>
          <a:noFill/>
          <a:ln w="9528" cap="flat">
            <a:solidFill>
              <a:srgbClr val="D8D8D8"/>
            </a:solidFill>
            <a:prstDash val="solid"/>
            <a:miter/>
          </a:ln>
        </p:spPr>
      </p:pic>
      <p:pic>
        <p:nvPicPr>
          <p:cNvPr id="5" name="Рисунок 5">
            <a:extLst>
              <a:ext uri="{FF2B5EF4-FFF2-40B4-BE49-F238E27FC236}">
                <a16:creationId xmlns:a16="http://schemas.microsoft.com/office/drawing/2014/main" id="{7FF3132F-3031-4C97-A062-81271582A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550" y="1848166"/>
            <a:ext cx="3704444" cy="204793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Рисунок 6">
            <a:extLst>
              <a:ext uri="{FF2B5EF4-FFF2-40B4-BE49-F238E27FC236}">
                <a16:creationId xmlns:a16="http://schemas.microsoft.com/office/drawing/2014/main" id="{F019A2C7-8423-4C99-B1CF-87E45CDDEC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550" y="4053590"/>
            <a:ext cx="3709035" cy="15661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9">
            <a:extLst>
              <a:ext uri="{FF2B5EF4-FFF2-40B4-BE49-F238E27FC236}">
                <a16:creationId xmlns:a16="http://schemas.microsoft.com/office/drawing/2014/main" id="{E92631F0-2801-4361-AB36-D2D0FA8FF7DB}"/>
              </a:ext>
            </a:extLst>
          </p:cNvPr>
          <p:cNvSpPr/>
          <p:nvPr/>
        </p:nvSpPr>
        <p:spPr>
          <a:xfrm>
            <a:off x="2390771" y="2419346"/>
            <a:ext cx="7324728" cy="2085975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9BF577"/>
          </a:solidFill>
          <a:ln w="12701" cap="flat">
            <a:solidFill>
              <a:srgbClr val="1B806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D8D8D8"/>
              </a:solidFill>
              <a:uFillTx/>
              <a:latin typeface="Calibri"/>
            </a:endParaRPr>
          </a:p>
        </p:txBody>
      </p:sp>
      <p:sp>
        <p:nvSpPr>
          <p:cNvPr id="3" name="Заголовок 1">
            <a:extLst>
              <a:ext uri="{FF2B5EF4-FFF2-40B4-BE49-F238E27FC236}">
                <a16:creationId xmlns:a16="http://schemas.microsoft.com/office/drawing/2014/main" id="{2D9E5F76-9A10-42D6-9270-6C81C5BDA2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24527" y="2927597"/>
            <a:ext cx="6742941" cy="974220"/>
          </a:xfrm>
        </p:spPr>
        <p:txBody>
          <a:bodyPr/>
          <a:lstStyle/>
          <a:p>
            <a:pPr lvl="0"/>
            <a:r>
              <a:rPr lang="ru-RU" sz="5400">
                <a:solidFill>
                  <a:srgbClr val="10092D"/>
                </a:solidFill>
              </a:rPr>
              <a:t>Спасибо за внимание!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2013 2022 Them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Words>136</Words>
  <Application>Microsoft Office PowerPoint</Application>
  <PresentationFormat>Широкоэкранный</PresentationFormat>
  <Paragraphs>47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2013 2022 Theme</vt:lpstr>
      <vt:lpstr>КАЛЬКУЛЯТОР СИСТЕМ СЧИСЛЕНИЯ</vt:lpstr>
      <vt:lpstr>ЦЕЛЬ РАБОТЫ:</vt:lpstr>
      <vt:lpstr>БЫЛИ ИСПОЛЬЗОВАНЫ ЯЗЫКИ:</vt:lpstr>
      <vt:lpstr>Плюсы нашего калькулятора:</vt:lpstr>
      <vt:lpstr>Плюсы нашего калькулятора:</vt:lpstr>
      <vt:lpstr>Плюсы нашего калькулятора:</vt:lpstr>
      <vt:lpstr>ВНЕШНИЙ ВИД</vt:lpstr>
      <vt:lpstr>Светлая тема</vt:lpstr>
      <vt:lpstr>Тёмная тема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КАЛЬКУЛЯТОР СИСТЕМ СЧИСЛЕНИЯ</dc:title>
  <dc:creator>Upiter</dc:creator>
  <cp:lastModifiedBy>Анастасия Смирнова</cp:lastModifiedBy>
  <cp:revision>137</cp:revision>
  <dcterms:created xsi:type="dcterms:W3CDTF">2025-11-14T10:39:00Z</dcterms:created>
  <dcterms:modified xsi:type="dcterms:W3CDTF">2025-12-22T21:05:15Z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